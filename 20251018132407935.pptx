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9" r:id="rId9"/>
    <p:sldId id="270" r:id="rId10"/>
    <p:sldId id="262" r:id="rId11"/>
    <p:sldId id="271" r:id="rId12"/>
    <p:sldId id="265" r:id="rId13"/>
    <p:sldId id="267" r:id="rId14"/>
  </p:sldIdLst>
  <p:sldSz cx="14630400" cy="8229600"/>
  <p:notesSz cx="8229600" cy="14630400"/>
  <p:embeddedFontLst>
    <p:embeddedFont>
      <p:font typeface="PT Serif" panose="020A0703040505020204" pitchFamily="34" charset="0"/>
      <p:bold r:id="rId18"/>
    </p:embeddedFont>
    <p:embeddedFont>
      <p:font typeface="PT Serif" panose="020A0703040505020204" pitchFamily="34" charset="-122"/>
      <p:bold r:id="rId19"/>
    </p:embeddedFont>
    <p:embeddedFont>
      <p:font typeface="PT Serif" panose="020A0703040505020204" pitchFamily="34" charset="-120"/>
      <p:bold r:id="rId20"/>
    </p:embeddedFont>
    <p:embeddedFont>
      <p:font typeface="DM Sans" pitchFamily="34" charset="0"/>
      <p:bold r:id="rId21"/>
    </p:embeddedFont>
    <p:embeddedFont>
      <p:font typeface="DM Sans" pitchFamily="34" charset="-122"/>
      <p:bold r:id="rId22"/>
    </p:embeddedFont>
    <p:embeddedFont>
      <p:font typeface="DM Sans" pitchFamily="34" charset="-12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等线" panose="02010600030101010101" charset="-122"/>
      <p:regular r:id="rId28"/>
    </p:embeddedFont>
    <p:embeddedFont>
      <p:font typeface="华文细黑" panose="02010600040101010101" charset="-122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://dangshi.people.com.cn/n/2015/0324/c85037-26742337-2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://dangshi.people.com.cn/GB/85038/11897672.html" TargetMode="External"/><Relationship Id="rId1" Type="http://schemas.openxmlformats.org/officeDocument/2006/relationships/hyperlink" Target="http://dangshi.people.com.cn/n/2015/0324/c85037-26742337-2.html" TargetMode="Externa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93790" y="3249692"/>
            <a:ext cx="12324874" cy="1027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《红星照耀中国》徐海东人物分析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793790" y="4616887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一个革命将领的传奇人生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4911"/>
            <a:ext cx="5954197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zh-CN" altLang="en-US" sz="4650" dirty="0"/>
              <a:t>第一部分：通过材料了解徐海东</a:t>
            </a:r>
            <a:endParaRPr lang="zh-CN" alt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342799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97843"/>
            <a:ext cx="4196358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5" name="Text 3"/>
          <p:cNvSpPr/>
          <p:nvPr/>
        </p:nvSpPr>
        <p:spPr>
          <a:xfrm>
            <a:off x="793790" y="3872151"/>
            <a:ext cx="4196358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回归原著——《红星照耀中国》斯诺的评价 </a:t>
            </a:r>
            <a:r>
              <a:rPr lang="zh-CN" altLang="en-US" sz="2300" dirty="0">
                <a:solidFill>
                  <a:srgbClr val="383838"/>
                </a:solidFill>
                <a:latin typeface="PT Serif" panose="020A0703040505020204" pitchFamily="34" charset="0"/>
                <a:ea typeface="宋体" panose="02010600030101010101" pitchFamily="2" charset="-122"/>
                <a:cs typeface="PT Serif" panose="020A0703040505020204" pitchFamily="34" charset="-120"/>
              </a:rPr>
              <a:t>注：大部分选自红星</a:t>
            </a:r>
            <a:r>
              <a:rPr lang="en-US" altLang="zh-CN" sz="2300" dirty="0">
                <a:solidFill>
                  <a:srgbClr val="383838"/>
                </a:solidFill>
                <a:latin typeface="PT Serif" panose="020A0703040505020204" pitchFamily="34" charset="0"/>
                <a:ea typeface="宋体" panose="02010600030101010101" pitchFamily="2" charset="-122"/>
                <a:cs typeface="PT Serif" panose="020A0703040505020204" pitchFamily="34" charset="-120"/>
              </a:rPr>
              <a:t>9.6</a:t>
            </a:r>
            <a:endParaRPr lang="en-US" altLang="zh-CN" sz="2300" dirty="0">
              <a:solidFill>
                <a:srgbClr val="383838"/>
              </a:solidFill>
              <a:latin typeface="PT Serif" panose="020A0703040505020204" pitchFamily="34" charset="0"/>
              <a:ea typeface="宋体" panose="02010600030101010101" pitchFamily="2" charset="-122"/>
              <a:cs typeface="PT Serif" panose="020A0703040505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16962" y="3342799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97843"/>
            <a:ext cx="4196358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8" name="Text 6"/>
          <p:cNvSpPr/>
          <p:nvPr/>
        </p:nvSpPr>
        <p:spPr>
          <a:xfrm>
            <a:off x="5216962" y="3872151"/>
            <a:ext cx="4196358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网络材料——徐海东</a:t>
            </a:r>
            <a:r>
              <a:rPr lang="zh-CN" altLang="en-US" sz="2300" dirty="0">
                <a:solidFill>
                  <a:srgbClr val="383838"/>
                </a:solidFill>
                <a:latin typeface="PT Serif" panose="020A0703040505020204" pitchFamily="34" charset="0"/>
                <a:ea typeface="宋体" panose="02010600030101010101" pitchFamily="2" charset="-122"/>
                <a:cs typeface="PT Serif" panose="020A0703040505020204" pitchFamily="34" charset="-120"/>
              </a:rPr>
              <a:t>的补充资料</a:t>
            </a:r>
            <a:endParaRPr lang="zh-CN" altLang="en-US" sz="2300" dirty="0">
              <a:solidFill>
                <a:srgbClr val="383838"/>
              </a:solidFill>
              <a:latin typeface="PT Serif" panose="020A0703040505020204" pitchFamily="34" charset="0"/>
              <a:ea typeface="宋体" panose="02010600030101010101" pitchFamily="2" charset="-122"/>
              <a:cs typeface="PT Serif" panose="020A0703040505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40133" y="3342799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697843"/>
            <a:ext cx="4196358" cy="30480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11" name="Text 9"/>
          <p:cNvSpPr/>
          <p:nvPr/>
        </p:nvSpPr>
        <p:spPr>
          <a:xfrm>
            <a:off x="9640133" y="3872151"/>
            <a:ext cx="4196358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AI眼中的徐海东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9" grpId="0"/>
      <p:bldP spid="5" grpId="0"/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8399" y="762833"/>
            <a:ext cx="5640824" cy="7050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1.回归原著——</a:t>
            </a:r>
            <a:r>
              <a:rPr lang="zh-CN" altLang="en-US" sz="4400" dirty="0">
                <a:solidFill>
                  <a:srgbClr val="020202"/>
                </a:solidFill>
                <a:latin typeface="PT Serif" panose="020A0703040505020204" pitchFamily="34" charset="0"/>
                <a:ea typeface="宋体" panose="02010600030101010101" pitchFamily="2" charset="-122"/>
                <a:cs typeface="PT Serif" panose="020A0703040505020204" pitchFamily="34" charset="-120"/>
              </a:rPr>
              <a:t>斯诺的评价</a:t>
            </a:r>
            <a:endParaRPr lang="zh-CN" altLang="en-US" sz="4400" dirty="0">
              <a:solidFill>
                <a:srgbClr val="020202"/>
              </a:solidFill>
              <a:latin typeface="PT Serif" panose="020A0703040505020204" pitchFamily="34" charset="0"/>
              <a:ea typeface="宋体" panose="02010600030101010101" pitchFamily="2" charset="-122"/>
              <a:cs typeface="PT Serif" panose="020A0703040505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38399" y="1790224"/>
            <a:ext cx="3665220" cy="352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238240" y="1677670"/>
            <a:ext cx="6769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《红星照耀中国》第九篇</a:t>
            </a:r>
            <a:r>
              <a:rPr lang="en-US" altLang="zh-CN"/>
              <a:t> </a:t>
            </a:r>
            <a:r>
              <a:rPr lang="zh-CN" altLang="en-US"/>
              <a:t>第一节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6256020" y="2526665"/>
            <a:ext cx="7570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/>
              <a:t>“</a:t>
            </a:r>
            <a:r>
              <a:rPr lang="zh-CN" altLang="en-US" sz="2400" b="1" i="1"/>
              <a:t>凡击毙彭德怀或徐海东者，投诚我军赏</a:t>
            </a:r>
            <a:r>
              <a:rPr lang="en-US" altLang="zh-CN" sz="2400" b="1" i="1">
                <a:solidFill>
                  <a:srgbClr val="FF0000"/>
                </a:solidFill>
                <a:highlight>
                  <a:srgbClr val="FFFF00"/>
                </a:highlight>
              </a:rPr>
              <a:t>10</a:t>
            </a:r>
            <a:r>
              <a:rPr lang="zh-CN" altLang="en-US" sz="2400" b="1" i="1">
                <a:solidFill>
                  <a:srgbClr val="FF0000"/>
                </a:solidFill>
                <a:highlight>
                  <a:srgbClr val="FFFF00"/>
                </a:highlight>
              </a:rPr>
              <a:t>万美元</a:t>
            </a:r>
            <a:r>
              <a:rPr lang="zh-CN" altLang="en-US" sz="2400" b="1" i="1"/>
              <a:t>。击毙其他匪首，亦当予以奖赏</a:t>
            </a:r>
            <a:r>
              <a:rPr lang="en-US" altLang="zh-CN" sz="2400" b="1" i="1"/>
              <a:t>”</a:t>
            </a:r>
            <a:r>
              <a:rPr lang="zh-CN" altLang="en-US" sz="2400" b="1" i="1"/>
              <a:t>（引用南方政府传单</a:t>
            </a:r>
            <a:r>
              <a:rPr lang="zh-CN" altLang="en-US" sz="2400"/>
              <a:t>）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6256020" y="4271010"/>
            <a:ext cx="73844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斯诺开篇首先引用南方方面飞机投下的传单，以此来增加他的叙述的可信度，</a:t>
            </a:r>
            <a:r>
              <a:rPr lang="en-US" altLang="zh-CN"/>
              <a:t>10</a:t>
            </a:r>
            <a:r>
              <a:rPr lang="zh-CN" altLang="en-US"/>
              <a:t>万美元的巨额奖赏，也从侧面体现出了徐海东对红军的重要性和他的独特的领导才能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56020" y="3399155"/>
            <a:ext cx="6954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斯诺在写徐海东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但为什么要写国民党的劝降的内容？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11" grpId="0"/>
      <p:bldP spid="14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075" y="624364"/>
            <a:ext cx="7557849" cy="14870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1.回归原著——斯诺的评价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823754" y="1454507"/>
            <a:ext cx="7217926" cy="7248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00" b="1" i="1" dirty="0">
                <a:solidFill>
                  <a:schemeClr val="tx1"/>
                </a:solidFill>
                <a:uFillTx/>
              </a:rPr>
              <a:t>“在我看来，徐海东是我所见过的所有共产党领袖中“阶级意识”最强的人--在举止、外表、谈吐和背景方面都是如此。虽然红军中的大部分下级军官是无产阶级出身，但也有很多高级指挥员是中产阶级或中农家庭出身，或是知识分子出身。徐海东很明显是个例外。他对自己的</a:t>
            </a:r>
            <a:r>
              <a:rPr lang="en-US" sz="1700" b="1" i="1" dirty="0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无产阶级出身引以为豪</a:t>
            </a:r>
            <a:r>
              <a:rPr lang="en-US" sz="1700" b="1" i="1" dirty="0">
                <a:solidFill>
                  <a:schemeClr val="tx1"/>
                </a:solidFill>
                <a:uFillTx/>
              </a:rPr>
              <a:t>，经常笑称自己是“苦力”。” </a:t>
            </a:r>
            <a:r>
              <a:rPr lang="zh-CN" altLang="en-US" sz="1700" b="1" i="1" dirty="0">
                <a:solidFill>
                  <a:schemeClr val="tx1"/>
                </a:solidFill>
                <a:uFillTx/>
              </a:rPr>
              <a:t>（第九篇</a:t>
            </a:r>
            <a:r>
              <a:rPr lang="en-US" altLang="zh-CN" sz="1700" b="1" i="1" dirty="0">
                <a:solidFill>
                  <a:schemeClr val="tx1"/>
                </a:solidFill>
                <a:uFillTx/>
              </a:rPr>
              <a:t> </a:t>
            </a:r>
            <a:r>
              <a:rPr lang="zh-CN" altLang="en-US" sz="1700" b="1" i="1" dirty="0">
                <a:solidFill>
                  <a:schemeClr val="tx1"/>
                </a:solidFill>
                <a:uFillTx/>
              </a:rPr>
              <a:t>第一节）</a:t>
            </a:r>
            <a:endParaRPr lang="zh-CN" altLang="en-US" sz="1700" b="1" i="1" dirty="0">
              <a:solidFill>
                <a:schemeClr val="tx1"/>
              </a:solidFill>
              <a:uFillTx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3555" y="1362789"/>
            <a:ext cx="30480" cy="1852017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8" name="Text 5"/>
          <p:cNvSpPr/>
          <p:nvPr/>
        </p:nvSpPr>
        <p:spPr>
          <a:xfrm>
            <a:off x="793075" y="5295979"/>
            <a:ext cx="7557849" cy="10872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斯诺</a:t>
            </a:r>
            <a:r>
              <a:rPr lang="zh-CN" altLang="en-US" sz="2400" dirty="0">
                <a:solidFill>
                  <a:srgbClr val="383838"/>
                </a:solidFill>
                <a:latin typeface="DM Sans" pitchFamily="34" charset="0"/>
                <a:ea typeface="宋体" panose="02010600030101010101" pitchFamily="2" charset="-122"/>
                <a:cs typeface="DM Sans" pitchFamily="34" charset="-120"/>
              </a:rPr>
              <a:t>特意</a:t>
            </a: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强调了徐海东与众不同的贫苦出身，认为他代表了中国共产党队伍中坚实的无产阶级基础。他的事迹向西方世界展示了中国红军领导人中朴实、坚韧的一面。</a:t>
            </a:r>
            <a:endParaRPr 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793115" y="4024630"/>
            <a:ext cx="7315200" cy="822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徐海东是工人阶级出身的少数几个高级将领之一，他的</a:t>
            </a:r>
            <a:r>
              <a:rPr lang="en-US" sz="1750" dirty="0">
                <a:solidFill>
                  <a:srgbClr val="383838"/>
                </a:solidFill>
                <a:highlight>
                  <a:srgbClr val="FFFF00"/>
                </a:highlight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简朴和真诚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给</a:t>
            </a:r>
            <a:r>
              <a:rPr lang="zh-CN" altLang="en-US" sz="1750" dirty="0">
                <a:solidFill>
                  <a:srgbClr val="383838"/>
                </a:solidFill>
                <a:latin typeface="DM Sans" pitchFamily="34" charset="0"/>
                <a:ea typeface="宋体" panose="02010600030101010101" pitchFamily="2" charset="-122"/>
                <a:cs typeface="DM Sans" pitchFamily="34" charset="-120"/>
                <a:sym typeface="+mn-ea"/>
              </a:rPr>
              <a:t>斯诺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留下了深刻印象。他毫无疑问是一个天才的军事家。</a:t>
            </a:r>
            <a:endParaRPr lang="en-US" alt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8758"/>
            <a:ext cx="11175206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.回归原著——斯诺的评价</a:t>
            </a:r>
            <a:endParaRPr lang="en-US" sz="4650" dirty="0">
              <a:solidFill>
                <a:srgbClr val="020202"/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  <a:p>
            <a:pPr marL="0" indent="0" algn="l">
              <a:lnSpc>
                <a:spcPts val="5850"/>
              </a:lnSpc>
              <a:buNone/>
            </a:pPr>
            <a:r>
              <a:rPr lang="zh-CN" altLang="en-US" sz="2400" dirty="0"/>
              <a:t>零星小事映领袖光辉</a:t>
            </a:r>
            <a:endParaRPr lang="zh-CN" alt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3155" y="2686645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zh-CN" alt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50" y="2912110"/>
            <a:ext cx="4196080" cy="3829050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81" y="3561993"/>
            <a:ext cx="272177" cy="27217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579" y="6574155"/>
            <a:ext cx="272177" cy="2721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431" y="4038243"/>
            <a:ext cx="345507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zh-CN" alt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5217160" y="2867660"/>
            <a:ext cx="4196080" cy="3873500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353" y="3561993"/>
            <a:ext cx="272177" cy="27217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751" y="6574155"/>
            <a:ext cx="272177" cy="27217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639935" y="2867660"/>
            <a:ext cx="4196080" cy="3873500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4525" y="3561993"/>
            <a:ext cx="272177" cy="272177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9923" y="6574155"/>
            <a:ext cx="272177" cy="27217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946005" y="5389047"/>
            <a:ext cx="345507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/>
              <a:t>体现出了他对部下的关心</a:t>
            </a:r>
            <a:endParaRPr lang="zh-CN" altLang="en-US" sz="1750" dirty="0"/>
          </a:p>
        </p:txBody>
      </p:sp>
      <p:sp>
        <p:nvSpPr>
          <p:cNvPr id="19" name="文本框 18"/>
          <p:cNvSpPr txBox="1"/>
          <p:nvPr/>
        </p:nvSpPr>
        <p:spPr>
          <a:xfrm>
            <a:off x="960120" y="3048635"/>
            <a:ext cx="4133215" cy="2524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i="1">
                <a:solidFill>
                  <a:schemeClr val="tx1"/>
                </a:solidFill>
                <a:uFillTx/>
              </a:rPr>
              <a:t>“我在学校第四年，也就是11岁那年，卷人了一场'富人打穷人</a:t>
            </a:r>
            <a:endParaRPr lang="zh-CN" altLang="en-US" b="1" i="1">
              <a:solidFill>
                <a:schemeClr val="tx1"/>
              </a:solidFill>
              <a:uFillTx/>
            </a:endParaRPr>
          </a:p>
          <a:p>
            <a:r>
              <a:rPr lang="zh-CN" altLang="en-US" b="1" i="1">
                <a:solidFill>
                  <a:schemeClr val="tx1"/>
                </a:solidFill>
                <a:uFillTx/>
              </a:rPr>
              <a:t>的争斗，被一群'富家子弟’逼到墙角。</a:t>
            </a:r>
            <a:r>
              <a:rPr lang="en-US" altLang="zh-CN" b="1" i="1">
                <a:solidFill>
                  <a:schemeClr val="tx1"/>
                </a:solidFill>
                <a:uFillTx/>
              </a:rPr>
              <a:t>...</a:t>
            </a:r>
            <a:r>
              <a:rPr lang="zh-CN" altLang="en-US" b="1" i="1">
                <a:solidFill>
                  <a:schemeClr val="tx1"/>
                </a:solidFill>
                <a:uFillTx/>
              </a:rPr>
              <a:t>他父亲说我'忘了自己的出身’，又是踢我又是打我。先生又把我给打了一顿。后来我</a:t>
            </a:r>
            <a:r>
              <a:rPr lang="zh-CN" altLang="en-US" b="1" i="1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逃离了学校，拒绝再回去</a:t>
            </a:r>
            <a:r>
              <a:rPr lang="zh-CN" altLang="en-US" b="1" i="1">
                <a:solidFill>
                  <a:schemeClr val="tx1"/>
                </a:solidFill>
                <a:uFillTx/>
              </a:rPr>
              <a:t>。这件事给我留下了深刻印象。从那以后，我就认定</a:t>
            </a:r>
            <a:r>
              <a:rPr lang="zh-CN" altLang="en-US" b="1" i="1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穷人的孩子不可能得到公平。</a:t>
            </a:r>
            <a:endParaRPr lang="zh-CN" altLang="en-US" b="1" i="1">
              <a:solidFill>
                <a:schemeClr val="tx1"/>
              </a:solidFill>
              <a:highlight>
                <a:srgbClr val="FFFF00"/>
              </a:highlight>
              <a:uFillTx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34415" y="5364480"/>
            <a:ext cx="35852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11</a:t>
            </a:r>
            <a:r>
              <a:rPr lang="zh-CN" altLang="en-US"/>
              <a:t>岁时就认识到了当时社会的险恶</a:t>
            </a:r>
            <a:r>
              <a:rPr lang="en-US" altLang="zh-CN"/>
              <a:t> </a:t>
            </a:r>
            <a:r>
              <a:rPr lang="zh-CN" altLang="en-US"/>
              <a:t>以及穷人的艰苦处境</a:t>
            </a:r>
            <a:r>
              <a:rPr lang="en-US" altLang="zh-CN"/>
              <a:t> </a:t>
            </a:r>
            <a:r>
              <a:rPr lang="zh-CN" altLang="en-US"/>
              <a:t>这也体现出了徐海东的强的</a:t>
            </a:r>
            <a:r>
              <a:rPr lang="zh-CN" altLang="en-US">
                <a:highlight>
                  <a:srgbClr val="FFFF00"/>
                </a:highlight>
              </a:rPr>
              <a:t>反抗精神革命信念</a:t>
            </a:r>
            <a:r>
              <a:rPr lang="en-US" altLang="zh-CN"/>
              <a:t> </a:t>
            </a:r>
            <a:r>
              <a:rPr lang="zh-CN" altLang="en-US"/>
              <a:t>也成为了他之后参与革命的导火锁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283835" y="2912110"/>
            <a:ext cx="39560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i="1">
                <a:solidFill>
                  <a:schemeClr val="tx1"/>
                </a:solidFill>
                <a:uFillTx/>
              </a:rPr>
              <a:t>为了避免被包围，</a:t>
            </a:r>
            <a:r>
              <a:rPr lang="zh-CN" altLang="en-US" b="1" i="1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张国焘和徐向前将主力部队撤出</a:t>
            </a:r>
            <a:r>
              <a:rPr lang="zh-CN" altLang="en-US" b="1" i="1">
                <a:solidFill>
                  <a:schemeClr val="tx1"/>
                </a:solidFill>
                <a:uFillTx/>
              </a:rPr>
              <a:t>，向西挺进。徐海东奉命与他的红25军留守，并将分散的游击队进行整重新发起抵抗。而国民党军队主力则继续追击徐向前指挥的部队。人意料的是，徐海东的</a:t>
            </a:r>
            <a:r>
              <a:rPr lang="zh-CN" altLang="en-US" b="1" i="1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游击队取得了许多重大胜利</a:t>
            </a:r>
            <a:r>
              <a:rPr lang="zh-CN" altLang="en-US" b="1" i="1">
                <a:solidFill>
                  <a:schemeClr val="tx1"/>
                </a:solidFill>
                <a:uFillTx/>
              </a:rPr>
              <a:t>，再次将国民党部队赶出鄂豫皖苏区。</a:t>
            </a:r>
            <a:endParaRPr lang="zh-CN" altLang="en-US" b="1" i="1">
              <a:solidFill>
                <a:schemeClr val="tx1"/>
              </a:solidFill>
              <a:uFillTx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25745" y="5457825"/>
            <a:ext cx="3914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在主力已经撤退的情况下，徐海东仍然率领游击队作战并取得了胜利，足见他的军事能力强大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640570" y="2867660"/>
            <a:ext cx="409067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i="1">
                <a:solidFill>
                  <a:schemeClr val="tx1"/>
                </a:solidFill>
                <a:uFillTx/>
              </a:rPr>
              <a:t>我也弄明白了他那两颗没了的门牙到底是怎么回事，它们是在他</a:t>
            </a:r>
            <a:endParaRPr lang="zh-CN" altLang="en-US" b="1" i="1">
              <a:solidFill>
                <a:schemeClr val="tx1"/>
              </a:solidFill>
              <a:uFillTx/>
            </a:endParaRPr>
          </a:p>
          <a:p>
            <a:r>
              <a:rPr lang="zh-CN" altLang="en-US" b="1" i="1">
                <a:solidFill>
                  <a:schemeClr val="tx1"/>
                </a:solidFill>
                <a:uFillTx/>
              </a:rPr>
              <a:t>一次骑马出了事故时磕掉的。有一天，他骑马在路上飞驰，马蹄踢着了一名战士。徐海东在马鞍上勒马转身，</a:t>
            </a:r>
            <a:r>
              <a:rPr lang="zh-CN" altLang="en-US" b="1" i="1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想看看那名战士是否受伤</a:t>
            </a:r>
            <a:r>
              <a:rPr lang="zh-CN" altLang="en-US" b="1" i="1">
                <a:solidFill>
                  <a:schemeClr val="tx1"/>
                </a:solidFill>
                <a:uFillTx/>
              </a:rPr>
              <a:t>。马受了惊，把徐海东撞在了一棵树上。他两周以后才重新恢复意识，却发现自己的门牙已经嵌在那棵树上了。</a:t>
            </a:r>
            <a:endParaRPr lang="zh-CN" altLang="en-US" b="1" i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5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05475" y="546418"/>
            <a:ext cx="11175206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850"/>
              </a:lnSpc>
              <a:buNone/>
            </a:pPr>
            <a:r>
              <a:rPr lang="zh-CN" altLang="en-US" sz="4400" dirty="0"/>
              <a:t>网络材料</a:t>
            </a:r>
            <a:r>
              <a:rPr lang="en-US" altLang="zh-CN" sz="4400" dirty="0"/>
              <a:t>——</a:t>
            </a:r>
            <a:r>
              <a:rPr lang="zh-CN" altLang="en-US" sz="4400" dirty="0"/>
              <a:t>徐海东的生平经历</a:t>
            </a:r>
            <a:endParaRPr lang="zh-CN" altLang="en-US" sz="4400" dirty="0"/>
          </a:p>
          <a:p>
            <a:pPr marL="0" indent="0" algn="l">
              <a:lnSpc>
                <a:spcPts val="5850"/>
              </a:lnSpc>
              <a:buNone/>
            </a:pPr>
            <a:endParaRPr lang="zh-CN" altLang="en-US" sz="2400" dirty="0"/>
          </a:p>
        </p:txBody>
      </p:sp>
      <p:sp>
        <p:nvSpPr>
          <p:cNvPr id="4" name="文本框 3">
            <a:hlinkClick r:id="rId1" tooltip=""/>
          </p:cNvPr>
          <p:cNvSpPr txBox="1"/>
          <p:nvPr/>
        </p:nvSpPr>
        <p:spPr>
          <a:xfrm>
            <a:off x="375285" y="1290955"/>
            <a:ext cx="122796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ym typeface="+mn-ea"/>
                <a:hlinkClick r:id="rId1" tooltip=""/>
              </a:rPr>
              <a:t>1.</a:t>
            </a:r>
            <a:r>
              <a:rPr lang="zh-CN" altLang="en-US" sz="2400" dirty="0">
                <a:sym typeface="+mn-ea"/>
                <a:hlinkClick r:id="rId1" tooltip=""/>
              </a:rPr>
              <a:t>中国共产党新闻网</a:t>
            </a:r>
            <a:r>
              <a:rPr lang="en-US" altLang="zh-CN" sz="2400" dirty="0">
                <a:sym typeface="+mn-ea"/>
                <a:hlinkClick r:id="rId1" tooltip=""/>
              </a:rPr>
              <a:t>  缅怀徐海东：曾九次负伤 毛泽东称赞“对中国革命有大功”</a:t>
            </a:r>
            <a:r>
              <a:rPr lang="zh-CN" altLang="en-US" sz="2400" dirty="0">
                <a:sym typeface="+mn-ea"/>
                <a:hlinkClick r:id="rId1" tooltip=""/>
              </a:rPr>
              <a:t>部</a:t>
            </a:r>
            <a:r>
              <a:rPr lang="zh-CN" altLang="en-US" sz="2400" dirty="0">
                <a:sym typeface="+mn-ea"/>
              </a:rPr>
              <a:t>分内容</a:t>
            </a:r>
            <a:endParaRPr lang="en-US" altLang="zh-CN" sz="2400" dirty="0">
              <a:sym typeface="+mn-ea"/>
            </a:endParaRPr>
          </a:p>
          <a:p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173990" y="1806575"/>
            <a:ext cx="13943965" cy="3113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i="1">
                <a:solidFill>
                  <a:schemeClr val="tx1"/>
                </a:solidFill>
                <a:uFillTx/>
              </a:rPr>
              <a:t>编者按：3月25日是开国大将徐海东逝世45周年纪念日。徐海东是我军有名的将领，在十年内战和抗日战争中，骁勇善战，不怕牺牲，被誉为“虎将军”。他先后9次负伤，身上有17处伤疤。毛泽东曾高度评价他是“对中国革命有大功的人”。徐海东不争名位，不谋私利，不追求特殊享受，始终置身于人民群众之中。邓小平也称赞他“对党是一颗红心”。</a:t>
            </a:r>
            <a:endParaRPr lang="zh-CN" altLang="en-US" b="1" i="1">
              <a:solidFill>
                <a:schemeClr val="tx1"/>
              </a:solidFill>
              <a:uFillTx/>
            </a:endParaRPr>
          </a:p>
          <a:p>
            <a:r>
              <a:rPr lang="zh-CN" altLang="en-US" b="1" i="1">
                <a:solidFill>
                  <a:schemeClr val="tx1"/>
                </a:solidFill>
                <a:uFillTx/>
              </a:rPr>
              <a:t>5000大洋支援毛泽东 为党中央扎根陕北奠基 </a:t>
            </a:r>
            <a:endParaRPr lang="zh-CN" altLang="en-US" b="1" i="1">
              <a:solidFill>
                <a:schemeClr val="tx1"/>
              </a:solidFill>
              <a:uFillTx/>
            </a:endParaRPr>
          </a:p>
          <a:p>
            <a:r>
              <a:rPr lang="zh-CN" altLang="en-US" b="1" i="1">
                <a:solidFill>
                  <a:schemeClr val="tx1"/>
                </a:solidFill>
                <a:uFillTx/>
              </a:rPr>
              <a:t>1935年，在历经千难万险后，中央红军主力胜利到达陕甘宁边区，与陕北红军会师。这时已进入严冬时节，部队缺吃少穿，连温饱都成问题。如何让战士们顺利过冬便成为摆在红军领导人面前的首要问题。于是，毛泽东向红15军团首长徐海东打欠条，“请你部借2500元给中央，以便解决中央红军吃饭穿衣问题”。徐海东随后派人把</a:t>
            </a:r>
            <a:r>
              <a:rPr lang="zh-CN" altLang="en-US" b="1" i="1">
                <a:solidFill>
                  <a:schemeClr val="tx1"/>
                </a:solidFill>
                <a:highlight>
                  <a:srgbClr val="FFFF00"/>
                </a:highlight>
                <a:uFillTx/>
              </a:rPr>
              <a:t>5000块大洋</a:t>
            </a:r>
            <a:r>
              <a:rPr lang="zh-CN" altLang="en-US" b="1" i="1">
                <a:solidFill>
                  <a:schemeClr val="tx1"/>
                </a:solidFill>
                <a:uFillTx/>
              </a:rPr>
              <a:t>送到中央红军后勤部，并让全军上下节衣缩食，从人员及物资上支援中央红军。毛泽东、张闻天、周恩来、彭德怀等领导都把这5000块大洋看作是雪中送炭。【详细】</a:t>
            </a:r>
            <a:endParaRPr lang="zh-CN" altLang="en-US" b="1" i="1">
              <a:solidFill>
                <a:schemeClr val="tx1"/>
              </a:solidFill>
              <a:uFillTx/>
            </a:endParaRPr>
          </a:p>
          <a:p>
            <a:r>
              <a:rPr lang="zh-CN" altLang="en-US" b="1" i="1">
                <a:solidFill>
                  <a:schemeClr val="tx1"/>
                </a:solidFill>
                <a:uFillTx/>
              </a:rPr>
              <a:t>半年时间转战数千里作战 取得八路军抗日首次大捷</a:t>
            </a:r>
            <a:endParaRPr lang="zh-CN" altLang="en-US" b="1" i="1">
              <a:solidFill>
                <a:schemeClr val="tx1"/>
              </a:solidFill>
              <a:uFillTx/>
            </a:endParaRPr>
          </a:p>
          <a:p>
            <a:endParaRPr lang="zh-CN" altLang="en-US" b="1" i="1">
              <a:solidFill>
                <a:schemeClr val="tx1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3990" y="4690745"/>
            <a:ext cx="13757910" cy="2768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这段经历集中体现了徐海东作为红军高级将领极强的党性原则、大局观念和对党中央的无限忠诚。当时中央红军初到陕北，处境极为艰难，毛泽东亲笔打欠条借款，既是对徐海东的信任，也是一次考验。徐海东在自身同样困难的情况下，不仅倾囊相助，而且“要送就送最好的”，将数额翻倍，这远非简单的慷慨，而是一个至关重要的政治表态。在当时的社会中</a:t>
            </a:r>
            <a:r>
              <a:rPr lang="en-US" altLang="zh-CN" sz="2400"/>
              <a:t> 5000</a:t>
            </a:r>
            <a:r>
              <a:rPr lang="zh-CN" altLang="en-US" sz="2400"/>
              <a:t>块大洋是一笔巨额的财富，他用自己的实际行动，有力地支持并维护了党中央的权威，解决了中央的燃眉之急，这份“雪中送炭”的情谊，也赢得了毛泽东等领导人终生的信任和感念。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05475" y="546418"/>
            <a:ext cx="11175206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850"/>
              </a:lnSpc>
              <a:buNone/>
            </a:pPr>
            <a:r>
              <a:rPr lang="zh-CN" altLang="en-US" sz="4400" dirty="0"/>
              <a:t>网络材料</a:t>
            </a:r>
            <a:r>
              <a:rPr lang="en-US" altLang="zh-CN" sz="4400" dirty="0"/>
              <a:t>——</a:t>
            </a:r>
            <a:r>
              <a:rPr lang="zh-CN" altLang="en-US" sz="4400" dirty="0"/>
              <a:t>徐海东的生平经历</a:t>
            </a:r>
            <a:endParaRPr lang="zh-CN" altLang="en-US" sz="4400" dirty="0"/>
          </a:p>
          <a:p>
            <a:pPr marL="0" indent="0" algn="l">
              <a:lnSpc>
                <a:spcPts val="5850"/>
              </a:lnSpc>
              <a:buNone/>
            </a:pPr>
            <a:endParaRPr lang="zh-CN" altLang="en-US" sz="2400" dirty="0"/>
          </a:p>
        </p:txBody>
      </p:sp>
      <p:sp>
        <p:nvSpPr>
          <p:cNvPr id="4" name="文本框 3">
            <a:hlinkClick r:id="rId1"/>
          </p:cNvPr>
          <p:cNvSpPr txBox="1"/>
          <p:nvPr/>
        </p:nvSpPr>
        <p:spPr>
          <a:xfrm>
            <a:off x="142875" y="1360805"/>
            <a:ext cx="122796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ym typeface="+mn-ea"/>
                <a:hlinkClick r:id="rId1"/>
              </a:rPr>
              <a:t>1.</a:t>
            </a:r>
            <a:r>
              <a:rPr lang="zh-CN" altLang="en-US" sz="2400" dirty="0">
                <a:sym typeface="+mn-ea"/>
                <a:hlinkClick r:id="rId1"/>
              </a:rPr>
              <a:t>中国共产党新闻网</a:t>
            </a:r>
            <a:r>
              <a:rPr lang="en-US" altLang="zh-CN" sz="2400" dirty="0">
                <a:sym typeface="+mn-ea"/>
                <a:hlinkClick r:id="rId1"/>
              </a:rPr>
              <a:t>  缅怀徐海东：曾九次负伤 毛泽东称赞“对中国革命有大功”</a:t>
            </a:r>
            <a:r>
              <a:rPr lang="zh-CN" altLang="en-US" sz="2400" dirty="0">
                <a:sym typeface="+mn-ea"/>
                <a:hlinkClick r:id="rId1"/>
              </a:rPr>
              <a:t>部</a:t>
            </a:r>
            <a:r>
              <a:rPr lang="zh-CN" altLang="en-US" sz="2400" dirty="0">
                <a:sym typeface="+mn-ea"/>
              </a:rPr>
              <a:t>分内容</a:t>
            </a:r>
            <a:endParaRPr lang="en-US" altLang="zh-CN" sz="2400" dirty="0">
              <a:sym typeface="+mn-ea"/>
            </a:endParaRPr>
          </a:p>
          <a:p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142875" y="1862455"/>
            <a:ext cx="13917930" cy="3294380"/>
          </a:xfrm>
          <a:prstGeom prst="rect">
            <a:avLst/>
          </a:prstGeom>
        </p:spPr>
        <p:txBody>
          <a:bodyPr wrap="square">
            <a:noAutofit/>
          </a:bodyPr>
          <a:p>
            <a:pPr marL="381000" indent="26670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半年时间转战数千里作战 取得八路军抗日首次大捷</a:t>
            </a:r>
            <a:endParaRPr lang="zh-CN" altLang="en-US" sz="2400" b="1" i="1">
              <a:solidFill>
                <a:srgbClr val="333333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pPr marL="381000" indent="266700" algn="l">
              <a:spcBef>
                <a:spcPts val="700"/>
              </a:spcBef>
              <a:spcAft>
                <a:spcPts val="700"/>
              </a:spcAft>
            </a:pP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“平型关大捷”是八路军抗日的首次大捷，打破了日军不可战胜的神话。这一战功是林彪指挥的</a:t>
            </a:r>
            <a:r>
              <a:rPr lang="en-US" altLang="zh-CN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115</a:t>
            </a: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师取得的，而徐海东正是</a:t>
            </a:r>
            <a:r>
              <a:rPr lang="en-US" altLang="zh-CN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115</a:t>
            </a: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师</a:t>
            </a:r>
            <a:r>
              <a:rPr lang="en-US" altLang="zh-CN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344</a:t>
            </a: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旅旅长。当时，徐海东率部向华北前线挺进，赶赴平型关参加围歼日寇板垣师团的战斗。徐海东指挥</a:t>
            </a:r>
            <a:r>
              <a:rPr lang="en-US" altLang="zh-CN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687</a:t>
            </a: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团从左翼突击，经一天苦战，与兄弟部队一起歼灭日军一千余人。之后，</a:t>
            </a:r>
            <a:r>
              <a:rPr lang="en-US" altLang="zh-CN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344</a:t>
            </a:r>
            <a:r>
              <a:rPr lang="zh-CN" altLang="en-US" sz="2400" b="1" i="1">
                <a:solidFill>
                  <a:srgbClr val="333333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旅参加了晋察冀边区反日寇“八路围攻”战役，晋东南反日寇“九路围攻”的战斗。徐海东率领部队在半年多时间里，从山西打到河北，日夜转战，驰骋数千里。</a:t>
            </a:r>
            <a:r>
              <a:rPr lang="zh-CN" altLang="en-US" sz="2400" b="1" i="1">
                <a:solidFill>
                  <a:srgbClr val="0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hlinkClick r:id="rId2"/>
              </a:rPr>
              <a:t>【详细】</a:t>
            </a:r>
            <a:endParaRPr lang="zh-CN" altLang="en-US" sz="2400" b="1" i="1">
              <a:solidFill>
                <a:srgbClr val="00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hlinkClick r:id="rId2"/>
            </a:endParaRPr>
          </a:p>
          <a:p>
            <a:pPr marL="381000" indent="266700" algn="l">
              <a:spcBef>
                <a:spcPts val="700"/>
              </a:spcBef>
              <a:spcAft>
                <a:spcPts val="700"/>
              </a:spcAft>
            </a:pPr>
            <a:r>
              <a:rPr lang="en-US" altLang="zh-CN" sz="2400" b="1" i="1">
                <a:solidFill>
                  <a:srgbClr val="0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hlinkClick r:id="rId2"/>
              </a:rPr>
              <a:t>ps:</a:t>
            </a:r>
            <a:r>
              <a:rPr lang="zh-CN" altLang="en-US" sz="2400" b="1" i="1">
                <a:solidFill>
                  <a:srgbClr val="0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hlinkClick r:id="rId2"/>
              </a:rPr>
              <a:t>这一段这么简单</a:t>
            </a:r>
            <a:r>
              <a:rPr lang="en-US" altLang="zh-CN" sz="2400" b="1" i="1">
                <a:solidFill>
                  <a:srgbClr val="0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hlinkClick r:id="rId2"/>
              </a:rPr>
              <a:t> </a:t>
            </a:r>
            <a:r>
              <a:rPr lang="zh-CN" altLang="en-US" sz="2400" b="1" i="1">
                <a:solidFill>
                  <a:srgbClr val="0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hlinkClick r:id="rId2"/>
              </a:rPr>
              <a:t>应该不用解释了吧</a:t>
            </a:r>
            <a:endParaRPr lang="zh-CN" altLang="en-US" sz="2400" b="1" i="1">
              <a:solidFill>
                <a:srgbClr val="00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920" y="542806"/>
            <a:ext cx="9726930" cy="647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690920" y="2438876"/>
            <a:ext cx="6525578" cy="2258139"/>
          </a:xfrm>
          <a:prstGeom prst="roundRect">
            <a:avLst>
              <a:gd name="adj" fmla="val 1311"/>
            </a:avLst>
          </a:prstGeom>
          <a:solidFill>
            <a:srgbClr val="F2EEEE"/>
          </a:solidFill>
        </p:spPr>
      </p:sp>
      <p:sp>
        <p:nvSpPr>
          <p:cNvPr id="5" name="Shape 3"/>
          <p:cNvSpPr/>
          <p:nvPr/>
        </p:nvSpPr>
        <p:spPr>
          <a:xfrm>
            <a:off x="888325" y="2636282"/>
            <a:ext cx="592217" cy="592217"/>
          </a:xfrm>
          <a:prstGeom prst="roundRect">
            <a:avLst>
              <a:gd name="adj" fmla="val 15438742"/>
            </a:avLst>
          </a:prstGeom>
          <a:solidFill>
            <a:srgbClr val="E04F0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3" y="2765822"/>
            <a:ext cx="266462" cy="333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325" y="3425904"/>
            <a:ext cx="2591038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“最好的共产党员” “对中国革命有大功的人“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8325" y="3868103"/>
            <a:ext cx="6130766" cy="631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徐海东是“工人阶级的一面旗帜”，是“最好的共产党员”，是“对中国革命有大功的人”。（无产阶级革命家、战略家和理论家毛泽东 评） [9] [32]</a:t>
            </a:r>
            <a:endParaRPr lang="en-US" sz="15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13903" y="2438876"/>
            <a:ext cx="6525578" cy="2258139"/>
          </a:xfrm>
          <a:prstGeom prst="roundRect">
            <a:avLst>
              <a:gd name="adj" fmla="val 1311"/>
            </a:avLst>
          </a:prstGeom>
          <a:solidFill>
            <a:srgbClr val="F2EEEE"/>
          </a:solidFill>
        </p:spPr>
      </p:sp>
      <p:sp>
        <p:nvSpPr>
          <p:cNvPr id="10" name="Shape 7"/>
          <p:cNvSpPr/>
          <p:nvPr/>
        </p:nvSpPr>
        <p:spPr>
          <a:xfrm>
            <a:off x="7611308" y="2636282"/>
            <a:ext cx="592217" cy="592217"/>
          </a:xfrm>
          <a:prstGeom prst="roundRect">
            <a:avLst>
              <a:gd name="adj" fmla="val 15438742"/>
            </a:avLst>
          </a:prstGeom>
          <a:solidFill>
            <a:srgbClr val="E04F0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186" y="2765822"/>
            <a:ext cx="266462" cy="333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1308" y="3425904"/>
            <a:ext cx="2591038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对党有一颗红心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11308" y="3868103"/>
            <a:ext cx="6130766" cy="631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徐海东对党有一颗红心。（无产阶级革命家、政治家、军事家、外交家邓小平 评）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90920" y="4894421"/>
            <a:ext cx="6525578" cy="2258139"/>
          </a:xfrm>
          <a:prstGeom prst="roundRect">
            <a:avLst>
              <a:gd name="adj" fmla="val 1311"/>
            </a:avLst>
          </a:prstGeom>
          <a:solidFill>
            <a:srgbClr val="F2EEEE"/>
          </a:solidFill>
        </p:spPr>
      </p:sp>
      <p:sp>
        <p:nvSpPr>
          <p:cNvPr id="15" name="Shape 11"/>
          <p:cNvSpPr/>
          <p:nvPr/>
        </p:nvSpPr>
        <p:spPr>
          <a:xfrm>
            <a:off x="888325" y="5091827"/>
            <a:ext cx="592217" cy="592217"/>
          </a:xfrm>
          <a:prstGeom prst="roundRect">
            <a:avLst>
              <a:gd name="adj" fmla="val 15438742"/>
            </a:avLst>
          </a:prstGeom>
          <a:solidFill>
            <a:srgbClr val="E04F0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03" y="5221367"/>
            <a:ext cx="266462" cy="3331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1670" y="5747703"/>
            <a:ext cx="6130766" cy="631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大公无私，光明磊落。（无产阶级革命家、政治家、军事家、外交家江泽民 评）</a:t>
            </a:r>
            <a:endParaRPr lang="en-US" sz="24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413903" y="4894421"/>
            <a:ext cx="6525578" cy="2258139"/>
          </a:xfrm>
          <a:prstGeom prst="roundRect">
            <a:avLst>
              <a:gd name="adj" fmla="val 1311"/>
            </a:avLst>
          </a:prstGeom>
          <a:solidFill>
            <a:srgbClr val="F2EEEE"/>
          </a:solidFill>
        </p:spPr>
      </p:sp>
      <p:sp>
        <p:nvSpPr>
          <p:cNvPr id="20" name="Shape 15"/>
          <p:cNvSpPr/>
          <p:nvPr/>
        </p:nvSpPr>
        <p:spPr>
          <a:xfrm>
            <a:off x="7611308" y="5091827"/>
            <a:ext cx="592217" cy="592217"/>
          </a:xfrm>
          <a:prstGeom prst="roundRect">
            <a:avLst>
              <a:gd name="adj" fmla="val 15438742"/>
            </a:avLst>
          </a:prstGeom>
          <a:solidFill>
            <a:srgbClr val="E04F0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186" y="5221367"/>
            <a:ext cx="266462" cy="3331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1308" y="5881449"/>
            <a:ext cx="2591038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ym typeface="+mn-ea"/>
              </a:rPr>
              <a:t>“大名鼎鼎”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611308" y="6323648"/>
            <a:ext cx="6130766" cy="631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/>
              <a:t>中国共产党的军事领导人中，恐怕没有人能比徐海东更加“大名鼎鼎”，也肯定没有人能比他更加神秘的了。（美国记者埃德加·斯诺 评） [7]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90920" y="7374612"/>
            <a:ext cx="13248561" cy="3157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通过斯诺的描述，徐海东的形象跃然纸上，他不仅是战场上的英雄，更是一位充满人情味、信念坚定的无产阶级革命家。</a:t>
            </a:r>
            <a:endParaRPr lang="en-US" sz="1550" dirty="0"/>
          </a:p>
        </p:txBody>
      </p:sp>
      <p:sp>
        <p:nvSpPr>
          <p:cNvPr id="27" name="文本框 26"/>
          <p:cNvSpPr txBox="1"/>
          <p:nvPr/>
        </p:nvSpPr>
        <p:spPr>
          <a:xfrm>
            <a:off x="690880" y="586105"/>
            <a:ext cx="10944225" cy="841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5850"/>
              </a:lnSpc>
              <a:buNone/>
            </a:pPr>
            <a:r>
              <a:rPr lang="zh-CN" altLang="en-US" sz="4400" dirty="0">
                <a:sym typeface="+mn-ea"/>
              </a:rPr>
              <a:t>网络材料</a:t>
            </a:r>
            <a:r>
              <a:rPr lang="en-US" altLang="zh-CN" sz="4400" dirty="0">
                <a:sym typeface="+mn-ea"/>
              </a:rPr>
              <a:t>——</a:t>
            </a:r>
            <a:r>
              <a:rPr lang="zh-CN" altLang="en-US" sz="4400" dirty="0">
                <a:sym typeface="+mn-ea"/>
              </a:rPr>
              <a:t>对徐海东的评价</a:t>
            </a:r>
            <a:endParaRPr lang="zh-CN" altLang="en-US" sz="4400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1925" y="445135"/>
            <a:ext cx="745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百度百科的简要介绍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0195" y="1166495"/>
            <a:ext cx="13594715" cy="6915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徐海东（1900年6月17日—1970年3月25日） [7]，男，原名徐元清 [1]，曾用名徐少奎 [18]，湖北黄陂（今大悟县）徐家桥村人 [8]，中国人民解放军大将 [71]，中国共产党的优秀党员 [5]，中国人民解放军高级将领 [8]、卓越的军事家 [49]，久经考验的无产阶级忠诚战士 [5]，人民解放军36名军事家之一 [73]，中共第八届、九届中央委员 [10]。</a:t>
            </a:r>
            <a:endParaRPr lang="zh-CN" altLang="en-US"/>
          </a:p>
          <a:p>
            <a:r>
              <a:rPr lang="zh-CN" altLang="en-US"/>
              <a:t>1925年，徐海东开始接触共产党员，逐渐产生一种寻找革命的思想 [1]。1926年，加入国民革命军 [8]，先后参加汀泗桥战斗、武昌战役等战斗 [1]。1927年，被中共黄陂县委任命为河口区农民自卫军大队长，领导农民自卫军打击地主反动武装；11月，率领农民自卫队参加支援黄麻起义 [10]。1930年，任黄陂县赤卫队大队长；5月，任鄂东暴动委员会西南总指挥 [10]。1931年，中共鄂豫皖军委警卫团二团团长；3月，任红四军十三师三十八团团长 [10]，先后参加一、二、三次反“围剿” [1]。1935年，任红二十五军军长；11月，任红军十五军团军团长 [10]。1937年，任八路军第一一五师三四四旅旅长 [10]。1940年，病倒在皖东战场上，返回后方休养 [10]。1954年，任中央人民政府人民革命军事委员会委员、中华人民共和国国防委员会委员。1955年，被授予中国人民解放军大将军衔 [10]。1970年3月25日，在河南郑州逝世，享年70岁 [10]。1978年12月，获得平反 [10]。</a:t>
            </a:r>
            <a:endParaRPr lang="zh-CN" altLang="en-US"/>
          </a:p>
          <a:p>
            <a:r>
              <a:rPr lang="zh-CN" altLang="en-US"/>
              <a:t>徐海东具有高超的军事指挥艺术和善于把握全局的领导才能 [26]。毛泽东称赞他是“对中国革命有大功的人”“工人阶级的一面旗帜”。邓小平评价他“对党有一颗红心” [49]。1955年，被授予一级八一勋章、一级独立自由勋章、一级解放勋章 [71]。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636" y="777240"/>
            <a:ext cx="7847052" cy="6625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AI眼中的徐海东——品格特征分析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06636" y="1843564"/>
            <a:ext cx="13217128" cy="323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200" dirty="0"/>
              <a:t>GAMMA AI</a:t>
            </a:r>
            <a:r>
              <a:rPr lang="zh-CN" altLang="en-US" sz="3200" dirty="0"/>
              <a:t>眼中的徐海东</a:t>
            </a:r>
            <a:endParaRPr lang="zh-CN" alt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6636" y="2393633"/>
            <a:ext cx="6507599" cy="2153364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9496" y="2416493"/>
            <a:ext cx="6461879" cy="605671"/>
          </a:xfrm>
          <a:prstGeom prst="roundRect">
            <a:avLst>
              <a:gd name="adj" fmla="val 471"/>
            </a:avLst>
          </a:prstGeom>
          <a:solidFill>
            <a:srgbClr val="F2EEEE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048" y="2530078"/>
            <a:ext cx="302776" cy="378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1307" y="3223974"/>
            <a:ext cx="2650093" cy="3312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勇敢无畏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31307" y="3676293"/>
            <a:ext cx="6058257" cy="646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在无数次血与火的战斗中，徐海东始终冲锋在前，指挥若定，其“大功”正是建立在敢于胜利、不畏牺牲的巨大勇气之上。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6046" y="2393633"/>
            <a:ext cx="6507718" cy="2153364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38906" y="2416493"/>
            <a:ext cx="6461998" cy="605671"/>
          </a:xfrm>
          <a:prstGeom prst="roundRect">
            <a:avLst>
              <a:gd name="adj" fmla="val 471"/>
            </a:avLst>
          </a:prstGeom>
          <a:solidFill>
            <a:srgbClr val="F2EEEE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458" y="2530078"/>
            <a:ext cx="302776" cy="378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0717" y="3223974"/>
            <a:ext cx="2650093" cy="3312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忠诚坚定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640717" y="3676293"/>
            <a:ext cx="6058376" cy="646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无论身处何种逆境，他对党和共产主义的信仰从未动摇。他用一生诠释了对革命事业的无限忠诚和坚如磐石的信念。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06636" y="4748808"/>
            <a:ext cx="6507599" cy="2153364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496" y="4771668"/>
            <a:ext cx="6461879" cy="605671"/>
          </a:xfrm>
          <a:prstGeom prst="roundRect">
            <a:avLst>
              <a:gd name="adj" fmla="val 471"/>
            </a:avLst>
          </a:prstGeom>
          <a:solidFill>
            <a:srgbClr val="F2EEEE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048" y="4885253"/>
            <a:ext cx="302776" cy="378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307" y="5579150"/>
            <a:ext cx="2650093" cy="3312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关爱士兵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31307" y="6031468"/>
            <a:ext cx="6058257" cy="646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他视战士为兄弟，关心他们的疾苦，坚持与士兵同甘共苦。这种爱兵如子的情怀，赢得了全体官兵的衷心爱戴。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6046" y="4748808"/>
            <a:ext cx="6507718" cy="2153364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38906" y="4771668"/>
            <a:ext cx="6461998" cy="605671"/>
          </a:xfrm>
          <a:prstGeom prst="roundRect">
            <a:avLst>
              <a:gd name="adj" fmla="val 471"/>
            </a:avLst>
          </a:prstGeom>
          <a:solidFill>
            <a:srgbClr val="F2EEEE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8458" y="4885253"/>
            <a:ext cx="302776" cy="3785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0717" y="5579150"/>
            <a:ext cx="2650093" cy="3312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朴实无华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7640717" y="6031468"/>
            <a:ext cx="6058376" cy="646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徐海东将军始终保持了贫苦农民的本色，生活极端简朴，拒绝特权。他以清廉朴实的作风，树立了共产党人高尚品德的典范。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06636" y="7129224"/>
            <a:ext cx="13217128" cy="323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毛泽东主席曾称赞他为“对中国革命有大功的人”，这充分肯定了徐海东将军在中国革命史上的重要地位和深远影响。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570786"/>
            <a:ext cx="10209728" cy="6799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总结——徐海东将军的历史价值与现代启示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25329" y="1665208"/>
            <a:ext cx="466249" cy="46624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4" name="Text 2"/>
          <p:cNvSpPr/>
          <p:nvPr/>
        </p:nvSpPr>
        <p:spPr>
          <a:xfrm>
            <a:off x="795278" y="1694319"/>
            <a:ext cx="326350" cy="408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98746" y="1736408"/>
            <a:ext cx="2720102" cy="340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历史价值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8746" y="2200751"/>
            <a:ext cx="12506325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作为《红星照耀中国》中的重要人物，向世界展示了中国共产党人的真实面貌。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5329" y="2946797"/>
            <a:ext cx="466249" cy="46624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8" name="Text 6"/>
          <p:cNvSpPr/>
          <p:nvPr/>
        </p:nvSpPr>
        <p:spPr>
          <a:xfrm>
            <a:off x="795278" y="2975908"/>
            <a:ext cx="326350" cy="408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98746" y="3017996"/>
            <a:ext cx="2720102" cy="340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精神品质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98746" y="3482340"/>
            <a:ext cx="12506325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忠诚、朴实、勇敢、爱民的品格值得后人学习。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5329" y="4228386"/>
            <a:ext cx="466249" cy="46624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12" name="Text 10"/>
          <p:cNvSpPr/>
          <p:nvPr/>
        </p:nvSpPr>
        <p:spPr>
          <a:xfrm>
            <a:off x="795278" y="4257496"/>
            <a:ext cx="326350" cy="408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98746" y="4299585"/>
            <a:ext cx="2720102" cy="340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军事贡献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98746" y="4763929"/>
            <a:ext cx="12506325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在中国革命的关键时刻发挥了重要作用。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5329" y="5509974"/>
            <a:ext cx="466249" cy="46624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16" name="Text 14"/>
          <p:cNvSpPr/>
          <p:nvPr/>
        </p:nvSpPr>
        <p:spPr>
          <a:xfrm>
            <a:off x="795278" y="5539085"/>
            <a:ext cx="326350" cy="408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98746" y="5581174"/>
            <a:ext cx="2720102" cy="340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现代启示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98746" y="6045518"/>
            <a:ext cx="12506325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他的精神品质对当代青年具有重要的教育意义。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5329" y="6791563"/>
            <a:ext cx="466249" cy="466249"/>
          </a:xfrm>
          <a:prstGeom prst="roundRect">
            <a:avLst>
              <a:gd name="adj" fmla="val 6668"/>
            </a:avLst>
          </a:prstGeom>
          <a:solidFill>
            <a:srgbClr val="F2EEEE"/>
          </a:solidFill>
        </p:spPr>
      </p:sp>
      <p:sp>
        <p:nvSpPr>
          <p:cNvPr id="20" name="Text 18"/>
          <p:cNvSpPr/>
          <p:nvPr/>
        </p:nvSpPr>
        <p:spPr>
          <a:xfrm>
            <a:off x="795278" y="6820674"/>
            <a:ext cx="326350" cy="408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5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98746" y="6862763"/>
            <a:ext cx="2720102" cy="340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结语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98746" y="7327106"/>
            <a:ext cx="12506325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铭记历史，传承精神，继续前行。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3704</Words>
  <Application>WPS 演示</Application>
  <PresentationFormat>On-screen Show (16:9)</PresentationFormat>
  <Paragraphs>155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8" baseType="lpstr">
      <vt:lpstr>Arial</vt:lpstr>
      <vt:lpstr>宋体</vt:lpstr>
      <vt:lpstr>Wingdings</vt:lpstr>
      <vt:lpstr>PT Serif</vt:lpstr>
      <vt:lpstr>PT Serif</vt:lpstr>
      <vt:lpstr>PT Serif</vt:lpstr>
      <vt:lpstr>DM Sans</vt:lpstr>
      <vt:lpstr>DM Sans</vt:lpstr>
      <vt:lpstr>DM Sans</vt:lpstr>
      <vt:lpstr>PT Serif Light</vt:lpstr>
      <vt:lpstr>Segment7</vt:lpstr>
      <vt:lpstr>PT Serif Light</vt:lpstr>
      <vt:lpstr>PT Serif Light</vt:lpstr>
      <vt:lpstr>Calibri</vt:lpstr>
      <vt:lpstr>微软雅黑</vt:lpstr>
      <vt:lpstr>Arial Unicode MS</vt:lpstr>
      <vt:lpstr>等线</vt:lpstr>
      <vt:lpstr>黑体</vt:lpstr>
      <vt:lpstr>华文行楷</vt:lpstr>
      <vt:lpstr>华文琥珀</vt:lpstr>
      <vt:lpstr>华文细黑</vt:lpstr>
      <vt:lpstr>华文隶书</vt:lpstr>
      <vt:lpstr>方正粗黑宋简体</vt:lpstr>
      <vt:lpstr>楷体</vt:lpstr>
      <vt:lpstr>汉仪中黑 197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lwl</cp:lastModifiedBy>
  <cp:revision>2</cp:revision>
  <dcterms:created xsi:type="dcterms:W3CDTF">2025-10-07T09:31:00Z</dcterms:created>
  <dcterms:modified xsi:type="dcterms:W3CDTF">2025-10-07T10:58:06Z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18B249E2619C4339BE8E9E5C534F947D_12</vt:lpwstr>
  </property>
  <property fmtid="{D5CDD505-2E9C-101B-9397-08002B2CF9AE}" pid="3" name="KSOProductBuildVer">
    <vt:lpwstr>2052-12.8.2.18205</vt:lpwstr>
  </property>
</Properties>
</file>